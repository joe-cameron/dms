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Decades Management System (DMS)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5C1E9"/>
                </a:solidFill>
              </a:rPr>
              <a:t>System Architecture — Integration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371600"/>
            <a:ext cx="4572000" cy="41148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508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2A4A"/>
                </a:solidFill>
              </a:rPr>
              <a:t>DMS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011680"/>
            <a:ext cx="4023360" cy="68580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  Contracting Suite</a:t>
            </a:r>
          </a:p>
          <a:p>
            <a:pPr algn="l"/>
            <a:r>
              <a:rPr sz="900">
                <a:solidFill>
                  <a:srgbClr val="D5DBDB"/>
                </a:solidFill>
              </a:rPr>
              <a:t>  Contracts, Amendments, MSAs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834640"/>
            <a:ext cx="4023360" cy="6858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  Document Generation</a:t>
            </a:r>
          </a:p>
          <a:p>
            <a:pPr algn="l"/>
            <a:r>
              <a:rPr sz="900">
                <a:solidFill>
                  <a:srgbClr val="D5DBDB"/>
                </a:solidFill>
              </a:rPr>
              <a:t>  Automated Word templates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657600"/>
            <a:ext cx="4023360" cy="6858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  Sales Proposals</a:t>
            </a:r>
          </a:p>
          <a:p>
            <a:pPr algn="l"/>
            <a:r>
              <a:rPr sz="900">
                <a:solidFill>
                  <a:srgbClr val="D5DBDB"/>
                </a:solidFill>
              </a:rPr>
              <a:t>  MSA + Exhibits A-D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4480560"/>
            <a:ext cx="4023360" cy="6858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  Operations Dashboard</a:t>
            </a:r>
          </a:p>
          <a:p>
            <a:pPr algn="l"/>
            <a:r>
              <a:rPr sz="900">
                <a:solidFill>
                  <a:srgbClr val="D5DBDB"/>
                </a:solidFill>
              </a:rPr>
              <a:t>  KPIs, Alerts,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4495E"/>
                </a:solidFill>
              </a:rPr>
              <a:t>DATA &amp;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371600"/>
            <a:ext cx="3108960" cy="96012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Portal Users</a:t>
            </a:r>
          </a:p>
          <a:p>
            <a:pPr algn="ctr"/>
            <a:r>
              <a:rPr sz="900">
                <a:solidFill>
                  <a:srgbClr val="D5DBDB"/>
                </a:solidFill>
              </a:rPr>
              <a:t>Property Managers
Owners, Vendors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3280" y="1828800"/>
            <a:ext cx="457200" cy="0"/>
          </a:xfrm>
          <a:prstGeom prst="line">
            <a:avLst/>
          </a:prstGeom>
          <a:ln w="2540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4320" y="2560320"/>
            <a:ext cx="3108960" cy="9601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Dataverse</a:t>
            </a:r>
          </a:p>
          <a:p>
            <a:pPr algn="ctr"/>
            <a:r>
              <a:rPr sz="900">
                <a:solidFill>
                  <a:srgbClr val="D5DBDB"/>
                </a:solidFill>
              </a:rPr>
              <a:t>Business Data Store
Contracts, Customers, Vendors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3280" y="3017520"/>
            <a:ext cx="457200" cy="0"/>
          </a:xfrm>
          <a:prstGeom prst="line">
            <a:avLst/>
          </a:prstGeom>
          <a:ln w="2540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4320" y="3749039"/>
            <a:ext cx="3108960" cy="96012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Entra ID</a:t>
            </a:r>
          </a:p>
          <a:p>
            <a:pPr algn="ctr"/>
            <a:r>
              <a:rPr sz="900">
                <a:solidFill>
                  <a:srgbClr val="D5DBDB"/>
                </a:solidFill>
              </a:rPr>
              <a:t>Identity &amp; Access
Single Sign-On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83280" y="4206240"/>
            <a:ext cx="457200" cy="0"/>
          </a:xfrm>
          <a:prstGeom prst="line">
            <a:avLst/>
          </a:prstGeom>
          <a:ln w="2540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4495E"/>
                </a:solidFill>
              </a:rPr>
              <a:t>CONNECTED SYSTEMS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371600"/>
            <a:ext cx="2926080" cy="96012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SharePoint</a:t>
            </a:r>
          </a:p>
          <a:p>
            <a:pPr algn="ctr"/>
            <a:r>
              <a:rPr sz="900">
                <a:solidFill>
                  <a:srgbClr val="D5DBDB"/>
                </a:solidFill>
              </a:rPr>
              <a:t>Document Storage
Templates &amp; Generated Docs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12480" y="1828800"/>
            <a:ext cx="548640" cy="0"/>
          </a:xfrm>
          <a:prstGeom prst="line">
            <a:avLst/>
          </a:prstGeom>
          <a:ln w="25400">
            <a:solidFill>
              <a:srgbClr val="1AB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61120" y="2560320"/>
            <a:ext cx="2926080" cy="9601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Word Online</a:t>
            </a:r>
          </a:p>
          <a:p>
            <a:pPr algn="ctr"/>
            <a:r>
              <a:rPr sz="900">
                <a:solidFill>
                  <a:srgbClr val="D5DBDB"/>
                </a:solidFill>
              </a:rPr>
              <a:t>Template Engine
Merge Fields → Documents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0" y="3017520"/>
            <a:ext cx="548640" cy="0"/>
          </a:xfrm>
          <a:prstGeom prst="line">
            <a:avLst/>
          </a:prstGeom>
          <a:ln w="254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961120" y="3749039"/>
            <a:ext cx="2926080" cy="96012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Email (Exchange)</a:t>
            </a:r>
          </a:p>
          <a:p>
            <a:pPr algn="ctr"/>
            <a:r>
              <a:rPr sz="900">
                <a:solidFill>
                  <a:srgbClr val="D5DBDB"/>
                </a:solidFill>
              </a:rPr>
              <a:t>Notifications
Contract Delivery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12480" y="4206240"/>
            <a:ext cx="548640" cy="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61120" y="4846320"/>
            <a:ext cx="2926080" cy="96012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UpKeep</a:t>
            </a:r>
          </a:p>
          <a:p>
            <a:pPr algn="ctr"/>
            <a:r>
              <a:rPr sz="900">
                <a:solidFill>
                  <a:srgbClr val="D5DBDB"/>
                </a:solidFill>
              </a:rPr>
              <a:t>Work Order Management
Maintenance Tracking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0" y="5303520"/>
            <a:ext cx="548640" cy="0"/>
          </a:xfrm>
          <a:prstGeom prst="line">
            <a:avLst/>
          </a:prstGeom>
          <a:ln w="2540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</a:rPr>
              <a:t>All systems connected via Microsoft Power Platform  •  Cloud-hosted  •  No on-premise dependencies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34495E"/>
                </a:solidFill>
              </a:rPr>
              <a:t>Decades Construction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Decades Management System (DMS)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5C1E9"/>
                </a:solidFill>
              </a:rPr>
              <a:t>Development to Production — Deployment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64008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Development &amp;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3474720" cy="32004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Build new features &amp; fixes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Automated testing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Template development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Flow configuration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AI monitoring (Nora)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257800"/>
            <a:ext cx="2560320" cy="41148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FREE TO EXPERIMENT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64008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Staging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3474720" cy="32004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Validated build deployed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User acceptance testing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Stakeholder review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Final sign-off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Pre-production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5257800"/>
            <a:ext cx="2560320" cy="41148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VERIFY &amp; APPROVE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6400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20240"/>
            <a:ext cx="3474720" cy="32004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Live system — real users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Contracts &amp; documents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Client-facing portal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Read-only for automation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Monitored 24/7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5257800"/>
            <a:ext cx="256032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LIVE &amp; PROTECTED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977639" y="3200400"/>
            <a:ext cx="365760" cy="32004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566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4495E"/>
                </a:solidFill>
              </a:rPr>
              <a:t>Validated
Deploy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18120" y="3200400"/>
            <a:ext cx="365760" cy="32004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3566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4495E"/>
                </a:solidFill>
              </a:rPr>
              <a:t>Approved
Release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852160"/>
            <a:ext cx="11277295" cy="7772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Key Principles:   No direct changes to Production   •   Every change tested before deployment   •   Automated monitoring catches issues early   •   Full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34495E"/>
                </a:solidFill>
              </a:rPr>
              <a:t>Decades Construction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